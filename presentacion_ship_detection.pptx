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15"/>
  </p:normalViewPr>
  <p:slideViewPr>
    <p:cSldViewPr snapToGrid="0" snapToObjects="1">
      <p:cViewPr varScale="1">
        <p:scale>
          <a:sx n="106" d="100"/>
          <a:sy n="106" d="100"/>
        </p:scale>
        <p:origin x="8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Juarez" userId="8eca5c1f3d72d7ca" providerId="LiveId" clId="{51D12A76-7203-508C-AF86-FFD747695E6A}"/>
    <pc:docChg chg="modSld">
      <pc:chgData name="Leandro Juarez" userId="8eca5c1f3d72d7ca" providerId="LiveId" clId="{51D12A76-7203-508C-AF86-FFD747695E6A}" dt="2026-06-03T14:04:23.317" v="2" actId="20577"/>
      <pc:docMkLst>
        <pc:docMk/>
      </pc:docMkLst>
      <pc:sldChg chg="modSp mod">
        <pc:chgData name="Leandro Juarez" userId="8eca5c1f3d72d7ca" providerId="LiveId" clId="{51D12A76-7203-508C-AF86-FFD747695E6A}" dt="2026-06-03T14:04:23.317" v="2" actId="20577"/>
        <pc:sldMkLst>
          <pc:docMk/>
          <pc:sldMk cId="0" sldId="256"/>
        </pc:sldMkLst>
        <pc:spChg chg="mod">
          <ac:chgData name="Leandro Juarez" userId="8eca5c1f3d72d7ca" providerId="LiveId" clId="{51D12A76-7203-508C-AF86-FFD747695E6A}" dt="2026-06-03T14:04:23.317" v="2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</a:rPr>
              <a:t>🛰️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Detección de Barcos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7A589"/>
                </a:solidFill>
              </a:rPr>
              <a:t>en Imágenes Satelitales con YOLO11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</a:rPr>
              <a:t>Leonardo </a:t>
            </a:r>
            <a:r>
              <a:rPr sz="1800" b="1" i="0" dirty="0" err="1">
                <a:solidFill>
                  <a:srgbClr val="FFFFFF"/>
                </a:solidFill>
              </a:rPr>
              <a:t>Heis</a:t>
            </a:r>
            <a:r>
              <a:rPr sz="1800" b="1" i="0" dirty="0">
                <a:solidFill>
                  <a:srgbClr val="FFFFFF"/>
                </a:solidFill>
              </a:rPr>
              <a:t> · Leandro Juárez · Maximiliano Mir</a:t>
            </a:r>
            <a:r>
              <a:rPr lang="es-AR" sz="1800" b="1" i="0" dirty="0" err="1">
                <a:solidFill>
                  <a:srgbClr val="FFFFFF"/>
                </a:solidFill>
              </a:rPr>
              <a:t>ó</a:t>
            </a:r>
            <a:endParaRPr sz="1800" b="1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F0F1"/>
                </a:solidFill>
              </a:rPr>
              <a:t>Diplomatura en Inteligencia Artificial · Computer Vision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Estructura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73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  1  Motivación — Por qué este dominio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2"/>
            <a:ext cx="11247120" cy="6583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867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  2  Dataset — Origen, composición y etiquetado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23744"/>
            <a:ext cx="1124712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5999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  3  Detector Clásico — OpenCV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36976"/>
            <a:ext cx="11247120" cy="6583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31317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  4  Entrenamiento YOLO11 — Experimentos y métricas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50208"/>
            <a:ext cx="1124712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264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  5  Comparación — Clásico vs. CNN vs. YOLO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11247120" cy="6583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739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  6  Conclusiones — Aprendizajes y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05840" cy="10058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Motivación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520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17A589"/>
                </a:solidFill>
              </a:rPr>
              <a:t>¿Por qué detección de barcos desde el espacio?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1. Motivación — El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5394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39C12"/>
                </a:solidFill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Vigilancia marítima a escala 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671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Control de tráfico portuario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4261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Monitoreo de pesca ilegal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1810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Respuesta ante emergencias en alta 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9359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Cobertura continua de vastas extensiones oceánicas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51560"/>
            <a:ext cx="5669280" cy="5394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7A589"/>
                </a:solidFill>
              </a:rPr>
              <a:t>Los Desafíos Técnicos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392B"/>
                </a:solidFill>
              </a:rPr>
              <a:t>⚠  Baja resolución relativa de los satélites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671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392B"/>
                </a:solidFill>
              </a:rPr>
              <a:t>⚠  Barcos ocupan solo 20–50 px en la imagen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4261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392B"/>
                </a:solidFill>
              </a:rPr>
              <a:t>⚠  Variabilidad de iluminación y clima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1810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392B"/>
                </a:solidFill>
              </a:rPr>
              <a:t>⚠  Fondos heterogéneos: puertos, espuma, olas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59359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392B"/>
                </a:solidFill>
              </a:rPr>
              <a:t>⚠  Estructuras portuarias similares a cascos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05840" cy="10058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520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17A589"/>
                </a:solidFill>
              </a:rPr>
              <a:t>ShipsNet + Roboflow · 4000 chips · bounding boxes anotadas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2. Dataset — Origen y Composición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486400" cy="2560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ShipsNet (Planet Labs / Kaggle)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4 000 chips de 80×80 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482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1 000 chips con barco  |  3 000 sin barco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Imágenes del satélite Planet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95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8 escenas satelitales completas (SF Bay / Long Beach)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51560"/>
            <a:ext cx="548640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143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7A589"/>
                </a:solidFill>
              </a:rPr>
              <a:t>Roboflow — Anotación con Bounding Boxes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276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300 imágenes positivas subidas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482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Auto Label (Grounding DINO / SAM)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Revisión manual de anotaciones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895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Proyecto: ship-4jnj0  |  Formato: yolov11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94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División Train / Valid /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2240280" cy="38404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4279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4251960"/>
            <a:ext cx="2240280" cy="38404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70632" y="4279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Imágenes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4251960"/>
            <a:ext cx="3154680" cy="38404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02352" y="42793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Bounding Boxes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4251960"/>
            <a:ext cx="2240280" cy="38404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4279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Porcentaje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63440"/>
            <a:ext cx="22402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" y="4690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4663440"/>
            <a:ext cx="22402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70632" y="4690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1 535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4663440"/>
            <a:ext cx="31546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02352" y="4690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7 488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4663440"/>
            <a:ext cx="22402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94192" y="46908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065776"/>
            <a:ext cx="22402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" y="5093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Valid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97480" y="5065776"/>
            <a:ext cx="22402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70632" y="5093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5065776"/>
            <a:ext cx="31546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02352" y="50932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2 606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5065776"/>
            <a:ext cx="22402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94192" y="5093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468112"/>
            <a:ext cx="22402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8912" y="54955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80" y="5468112"/>
            <a:ext cx="22402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70632" y="54955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5468112"/>
            <a:ext cx="31546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02352" y="54955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2 768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5468112"/>
            <a:ext cx="22402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94192" y="54955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2. Dataset — Criterios de Etiquetado y Dificultades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669280" cy="5394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CRITERIOS DE ETIQUETADO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Objeto válido: silueta visible + ≥50% del casco en el chip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2432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Barcos parcialmente nublados: incluir si silueta reconocible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8444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Estructuras portuarias fijas (diques, grúas): excluir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4456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Densidad promedio: ~5 barcos/imagen (varía 1–20+)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5669280" cy="5394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1430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DIFICULTADES ENCONTRADAS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6420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Mezcla de máscaras de segmentación → warning Ultralytics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2432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Cajas imprecisas de Auto Label → ruido de supervisión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58444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Transición clasificación → detección: anotación manual costosa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4456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Barcos muy pequeños (&lt;10 px): difíciles de encuadrar con exactitud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05840" cy="10058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Detector Clásico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520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17A589"/>
                </a:solidFill>
              </a:rPr>
              <a:t>OpenCV · HSV · Morfología · CNN / MobileNetV2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3. Detector Clásico — Pipeline OpenCV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874519" cy="1371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37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Conversión al espacio de color HSV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7A589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1234440"/>
            <a:ext cx="1874519" cy="1371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67712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1737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Saturación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Extracción del canal S (barcos coloridos)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4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7A589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1234440"/>
            <a:ext cx="1874519" cy="1371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61104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1737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Umbral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Umbralización binaria adaptativa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7A589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4496" y="1234440"/>
            <a:ext cx="1874519" cy="1371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54496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737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Morfología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Cierre (unir) + Apertura (ruido)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7A589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7888" y="1234440"/>
            <a:ext cx="1874519" cy="1371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47888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1737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Contornos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cv2.findContours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1600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7A589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41280" y="1234440"/>
            <a:ext cx="1874519" cy="13716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41280" y="1261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17373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Filtrado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14884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F0F1"/>
                </a:solidFill>
              </a:rPr>
              <a:t>Área mínima + Aspect ratio &gt; 1.5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834640"/>
            <a:ext cx="5486400" cy="3611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29077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8B4C"/>
                </a:solidFill>
              </a:rPr>
              <a:t>✓  Detecta bien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4015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Barcos coloridos sobre agua oscura (alto contraste)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044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Escenas con pocos barcos y fondo uniforme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4074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▸  Orientaciones horizontales/verticales claras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834640"/>
            <a:ext cx="5486400" cy="3611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29077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</a:rPr>
              <a:t>✗  Falla 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4015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✗  Barcos grises/blancos sobre mar claro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9044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✗  Zonas portuarias con estructuras complejas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4074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✗  Barcos muy pequeños (&lt; 10 px de área)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910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CF0F1"/>
                </a:solidFill>
              </a:rPr>
              <a:t>✗  Sin contexto semántico: no distingue casco de dique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3. CNN Baseline + MobileNetV2 — Clasificadores de Chips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669280" cy="53949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CNN Baseline
(desde cero)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534924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5681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56816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0.963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70048"/>
            <a:ext cx="534924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70662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06624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0.886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19856"/>
            <a:ext cx="5349240" cy="6583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4564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564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0.980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69664"/>
            <a:ext cx="534924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2062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0.930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19472"/>
            <a:ext cx="534924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95604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95604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0.9945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051560"/>
            <a:ext cx="5669280" cy="5394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1115568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MobileNetV2
(Transfer Learning)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920240"/>
            <a:ext cx="53492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195681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956816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0.965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670048"/>
            <a:ext cx="5349240" cy="65836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270662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706624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0.964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419856"/>
            <a:ext cx="53492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45643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4564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0.893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169664"/>
            <a:ext cx="53492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42062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2062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0.927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919472"/>
            <a:ext cx="53492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495604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956048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0.9933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00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39C12"/>
                </a:solidFill>
              </a:rPr>
              <a:t>Limitación: ambos modelos clasifican chips pero NO producen bounding boxes → dependen del pipeline OpenCV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05840" cy="10058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Entrenamiento YOLO11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520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17A589"/>
                </a:solidFill>
              </a:rPr>
              <a:t>yolo11m.pt · 3 experimentos · mAP@50 hasta 0.616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4. YOLO11 — Experimentos de Entrenamiento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984248" cy="4114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247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Corrida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097280"/>
            <a:ext cx="795528" cy="4114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23160" y="112471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Epochs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097280"/>
            <a:ext cx="795528" cy="4114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12471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imgsz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097280"/>
            <a:ext cx="704088" cy="4114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9080" y="11247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097280"/>
            <a:ext cx="886968" cy="4114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1247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Tiempo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097280"/>
            <a:ext cx="978408" cy="4114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0" y="1124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mAP@50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1097280"/>
            <a:ext cx="1069848" cy="4114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1247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Precisión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097280"/>
            <a:ext cx="978408" cy="4114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1124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536192"/>
            <a:ext cx="198424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15636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v1 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1536192"/>
            <a:ext cx="79552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23160" y="156362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1536192"/>
            <a:ext cx="79552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46120" y="1563624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1536192"/>
            <a:ext cx="70408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069080" y="1563624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1536192"/>
            <a:ext cx="88696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0600" y="156362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0.62 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1536192"/>
            <a:ext cx="97840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15000" y="156362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0.463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1536192"/>
            <a:ext cx="106984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1563624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0.507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1536192"/>
            <a:ext cx="97840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20" y="156362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0.401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011680"/>
            <a:ext cx="198424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203911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v2  +epochs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2011680"/>
            <a:ext cx="79552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23160" y="203911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2011680"/>
            <a:ext cx="79552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46120" y="203911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0" y="2011680"/>
            <a:ext cx="70408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69080" y="2039112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011680"/>
            <a:ext cx="88696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00600" y="203911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1.82 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2011680"/>
            <a:ext cx="978408" cy="4572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15000" y="203911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0.616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2011680"/>
            <a:ext cx="1069848" cy="4572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20840" y="203911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0.748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2011680"/>
            <a:ext cx="978408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18120" y="203911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0.468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2487168"/>
            <a:ext cx="198424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" y="25146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v3  +imgsz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2487168"/>
            <a:ext cx="79552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423160" y="251460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2487168"/>
            <a:ext cx="79552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46120" y="251460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960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23360" y="2487168"/>
            <a:ext cx="70408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069080" y="2514600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4880" y="2487168"/>
            <a:ext cx="88696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800600" y="2514600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3.91 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0" y="2487168"/>
            <a:ext cx="97840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715000" y="251460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0.611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5120" y="2487168"/>
            <a:ext cx="106984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720840" y="251460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0.748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2487168"/>
            <a:ext cx="978408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818120" y="251460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0.469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3200400"/>
            <a:ext cx="11430000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" y="32644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</a:rPr>
              <a:t>v1 → v2: mayor impacto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3703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Duplicar epochs (30→100) + aumentar cls (0.5→1.5): mAP@50 sube 33% (0.463→0.616). v1 estaba claramente subajustado — la pérdida de validación seguía descendiendo al finalizar.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4754880"/>
            <a:ext cx="11430000" cy="1417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2920" y="4818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v2 → v3: ganancia marginal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5257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Mayor resolución (640→960 px) mejora barcos pequeños, pero batch cae a 3 imágenes (AutoBatch al 52% VRAM). mAP pasa de 0.616 a 0.611 — no hay mejora neta.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4. YOLO11 — Métricas del Mejor Modelo (v3, test set)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194560" cy="219456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mAP@50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0.611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188720"/>
            <a:ext cx="2194560" cy="2194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280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mAP@50-95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0.333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188720"/>
            <a:ext cx="2194560" cy="2194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1280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Precisión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0.748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1188720"/>
            <a:ext cx="2194560" cy="2194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1280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0.469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188720"/>
            <a:ext cx="2194560" cy="2194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0" y="1280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Inferencia GPU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25.8 ms/img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11880"/>
            <a:ext cx="1143000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657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A589"/>
                </a:solidFill>
              </a:rPr>
              <a:t>mAP@50 (0.611) vs. mAP@50-95 (0.333)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El modelo localiza bien los barcos (IoU &gt; 0.5), pero no ajusta perfectamente los bordes de la caja (falla a IoU &gt; 0.75). Las anotaciones automáticas de Auto Label introducen ruido en las cajas.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36008"/>
            <a:ext cx="114300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6817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A589"/>
                </a:solidFill>
              </a:rPr>
              <a:t>Recall bajo (0.47) — el problema prioritario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474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Para vigilancia marítima, perder un barco (falso negativo) es peor que una falsa alarma. Se recomienda operar con conf=0.20–0.30 en lugar del default 0.50, sacrificando precisión para recuperar recall.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660136"/>
            <a:ext cx="1143000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570585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A589"/>
                </a:solidFill>
              </a:rPr>
              <a:t>Matriz de confusión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7161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Detecta barcos en alta densidad portuaria. Confunde barcos pequeños con fondo (↑ FN). Pocas detecciones espurias sobre agua abierta (Precisión 0.75).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05840" cy="10058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Comparación de Enfoques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520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17A589"/>
                </a:solidFill>
              </a:rPr>
              <a:t>Detector Clásico · CNN/MobileNetV2 · YOLO11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5. Comparación — Tabla Resumen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251460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6888" y="11247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Dimensión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097280"/>
            <a:ext cx="2788920" cy="411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07208" y="11247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Clásico (OpenCV)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097280"/>
            <a:ext cx="2971800" cy="411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41848" y="11247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CNN / MobileNetV2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097280"/>
            <a:ext cx="2971800" cy="41148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9368" y="11247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YOLO11m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536192"/>
            <a:ext cx="251460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" y="157276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Salida del modelo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536192"/>
            <a:ext cx="278892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07208" y="157276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Contornos aproximados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536192"/>
            <a:ext cx="297180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41848" y="157276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Clase + probabilidad (sin localización)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536192"/>
            <a:ext cx="297180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59368" y="157276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Bounding boxes + coordenadas + confianza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496312"/>
            <a:ext cx="25146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" y="253288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Precisión cualitativa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496312"/>
            <a:ext cx="278892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7208" y="253288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Baja: falla grises, puertos, objetos pequeños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496312"/>
            <a:ext cx="29718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41848" y="253288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Alta clasificación chips: acc 96%, AUC 0.99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2496312"/>
            <a:ext cx="297180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59368" y="253288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Media-alta: mAP@50=0.61, detección end-to-end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456432"/>
            <a:ext cx="251460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6888" y="349300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Requisitos computacionales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456432"/>
            <a:ext cx="278892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07208" y="349300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Mínimos: CPU en tiempo real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456432"/>
            <a:ext cx="297180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41848" y="349300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Bajos: inferencia CPU (9.5 MB)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5360" y="3456432"/>
            <a:ext cx="297180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59368" y="349300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GPU para entrenar; 25.8 ms/img inferencia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4416552"/>
            <a:ext cx="25146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6888" y="445312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Tiempo de desarrollo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416552"/>
            <a:ext cx="278892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07208" y="445312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Rápido (~2 hs); difícil de mejorar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4416552"/>
            <a:ext cx="2971800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41848" y="445312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Moderado: train en minutos sobre chips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4416552"/>
            <a:ext cx="297180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59368" y="445312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Significativo: v1=0.6h, v2=1.8h, v3=3.9h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5376672"/>
            <a:ext cx="251460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46888" y="5413248"/>
            <a:ext cx="2468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Generalización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5376672"/>
            <a:ext cx="278892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07208" y="5413248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Muy baja: parámetros calibrados por escena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5376672"/>
            <a:ext cx="2971800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41848" y="541324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Media: no generaliza a otras resoluciones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5376672"/>
            <a:ext cx="2971800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59368" y="541324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Media: necesita más datos para ↑ recall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5. Comparación — Análisis Cualitativo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16916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Clásico como baseline rápido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Implementación en ~2 hs sin datos etiquetados. Útil para validar que el problema tiene señal visual. Techo bajo: los parámetros calibrados fallan en otra condición de iluminación o escena sin re-calibración.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926080"/>
            <a:ext cx="11430000" cy="1691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9992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CNN/MobileNetV2: excelente clasificación, sin localización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930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Accuracy 96%, AUC-ROC 0.99. Ideal cuando solo se necesita saber si hay un barco en el chip. Limitación crítica: no produce coordenadas. Depende del pipeline clásico para extraer candidatos.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54880"/>
            <a:ext cx="11430000" cy="16916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828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39C12"/>
                </a:solidFill>
              </a:rPr>
              <a:t>YOLO11: el único end-to-end con localización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21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mAP@50=0.61. Detecta barcos con coordenadas precisas en imágenes completas. Limitación actual: recall 0.47 por falta de datos. Con 3000+ imágenes de train el recall subiría significativamente.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05840" cy="10058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0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468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520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17A589"/>
                </a:solidFill>
              </a:rPr>
              <a:t>¿Qué aprendimos? ¿Qué haríamos diferente?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6. Conclusiones — Lo que Aprendimos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502920" cy="9875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1078992"/>
            <a:ext cx="11064240" cy="9875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13385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El etiquetado es el cuello de botella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Auto Label + revisión manual tomó más tiempo que el entrenamiento. Cajas imprecisas se propagan directamente al recall.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76272"/>
            <a:ext cx="502920" cy="98755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24048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2176272"/>
            <a:ext cx="11064240" cy="9875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23113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B4C"/>
                </a:solidFill>
              </a:rPr>
              <a:t>Los epochs importan más que la 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v1→v2: mAP sube 33% solo por entrenar más epochs (30→100). El modelo v1 estaba claramente subajustado.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73552"/>
            <a:ext cx="502920" cy="987552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5021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" y="3273552"/>
            <a:ext cx="11064240" cy="9875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32841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7A589"/>
                </a:solidFill>
              </a:rPr>
              <a:t>La resolución ayuda, pero el batch la limita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73075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640→960 px mejoró la representación de objetos pequeños, pero batch cayó a 3 en una GPU de 8 GB. Ganancia marginal, costo alto.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70831"/>
            <a:ext cx="502920" cy="9875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45994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" y="4370831"/>
            <a:ext cx="11064240" cy="9875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425695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El recall debe guiar todas las decisiones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828031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detectar un barco es peor que una falsa alarma. Operar con conf=0.20–0.30, no 0.50.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468112"/>
            <a:ext cx="502920" cy="987552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56967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5468112"/>
            <a:ext cx="11064240" cy="9875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" y="552297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4F72"/>
                </a:solidFill>
              </a:rPr>
              <a:t>El clásico falla por falta de contexto semántico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92531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Umbralización y morfología no pueden aprender qué es un barco. Solo capturan propiedades espectrales locales.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6. Conclusiones — ¿Qué Haríamos Diferente?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12880" cy="10058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0" y="11521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B4C"/>
                </a:solidFill>
              </a:rPr>
              <a:t>IMPACTO ALTO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52144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Anotar más imágenes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~1500 imágenes de train es un techo. Duplicar (≥3000) es la mejora de mayor impacto en recall.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11612880" cy="100584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22311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E8B4C"/>
                </a:solidFill>
              </a:rPr>
              <a:t>IMPACTO ALTO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31136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Revisar anotaciones de Auto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3347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Cajas imprecisas limitan la convergencia. Revisión manual de calidad mejora recall sin más datos.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55264"/>
            <a:ext cx="11612880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33101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39C12"/>
                </a:solidFill>
              </a:rPr>
              <a:t>IMPACTO ALTO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101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Integrar SAHI desde el inicio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1246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Slicing Aided Hyper Inference para escenas de alta resolución. Transforma 0 detecciones en SF Bay a detecciones reales.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334256"/>
            <a:ext cx="11612880" cy="10058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43891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39C12"/>
                </a:solidFill>
              </a:rPr>
              <a:t>IMPACTO 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891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Agregar negativos difíciles de SF Bay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79145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Chips de espuma, diques y estructuras portuarias como ejemplos negativos para reducir falsos positivos en escenas reales.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13248"/>
            <a:ext cx="1161288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5468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CF0F1"/>
                </a:solidFill>
              </a:rPr>
              <a:t>IMPACTO MEDIO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46811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Explorar imgsz=1280 con batch=1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8704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CF0F1"/>
                </a:solidFill>
              </a:rPr>
              <a:t>Evaluar si el trade-off resolución/batch favorece barcos muy pequeños.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6. Experiencia Personal — Ejecución en Google Colab (LJ)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612880" cy="594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Todas las ejecuciones realizadas en Google Colab (GPU T4) — sin GPU local en macOS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669280" cy="3200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56692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84708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Primera versión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77440"/>
            <a:ext cx="5349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Inferencia directa sobre escenas SF Bay (~2500×1700 px)
→  RESULTADO: 0 detecciones
→  CAUSA: barcos de 10–15 px invisibles para modelo entrenado con chips de 80 px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669280" cy="3200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669280" cy="457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84708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Segunda versión + SAHI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377440"/>
            <a:ext cx="5349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Slicing en tiles de 320×320 px con 20% overlap, fusión con NMS
→  RESULTADO: barcos detectados en SF Bay
→  PENDIENTE: falsos positivos en espuma y estructuras portuarias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212080"/>
            <a:ext cx="11612880" cy="13258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52852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A589"/>
                </a:solidFill>
              </a:rPr>
              <a:t>Notebook macOS (ship_detection_macos.ipynb)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68756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Adaptada para Apple Silicon (MPS) o CPU · credenciales vía .env · batch=8 (MPS)/4 (CPU) · orientada a inferencia local con pesos entrenados en Colab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7A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7A589"/>
                </a:solidFill>
              </a:rP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40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Leonardo Heis · Leandro Juárez · Maximiliano Miro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97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CF0F1"/>
                </a:solidFill>
              </a:rPr>
              <a:t>Diplomatura en IA · Computer Vision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1658</Words>
  <Application>Microsoft Macintosh PowerPoint</Application>
  <PresentationFormat>Personalizado</PresentationFormat>
  <Paragraphs>269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Leandro Juarez</cp:lastModifiedBy>
  <cp:revision>1</cp:revision>
  <dcterms:created xsi:type="dcterms:W3CDTF">2013-01-27T09:14:16Z</dcterms:created>
  <dcterms:modified xsi:type="dcterms:W3CDTF">2026-06-03T14:04:34Z</dcterms:modified>
  <cp:category/>
</cp:coreProperties>
</file>